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image" Target="../media/image-10-6.jpg"/><Relationship Id="rId7" Type="http://schemas.openxmlformats.org/officeDocument/2006/relationships/image" Target="../media/image-10-7.jpg"/><Relationship Id="rId8" Type="http://schemas.openxmlformats.org/officeDocument/2006/relationships/image" Target="../media/image-10-8.jpg"/><Relationship Id="rId9" Type="http://schemas.openxmlformats.org/officeDocument/2006/relationships/image" Target="../media/image-10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ho/Documents/report-kit/plugins/deck-kit/skills/deck/examples/images/glow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-1280160"/>
            <a:ext cx="8229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400" b="1" spc="200" kern="0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회사소개 및 IR   |   2026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77240" y="22402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8000" spc="-20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MediNote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822960" y="3703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A9A6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진료 기록을 대신 쓰는</a:t>
            </a:r>
            <a:endParaRPr lang="en-US" sz="200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A9A6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병원용 의료 AI 구독 서비스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덱. 회사와 숫자는 모두 가상입니다   |   단위: 억원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5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50" b="1" spc="150" kern="0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pPr eaLnBrk="0" indent="0" marL="0">
              <a:buNone/>
            </a:pPr>
            <a:r>
              <a:rPr lang="en-US" sz="950" b="1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EXECUTIVE SUMMARY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066837" y="384048"/>
            <a:ext cx="35762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95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MediNote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94415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D9D6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101546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ARR은 연간 반복 매출. '27P는 사업계획 기준(가상). 증가분 175억원은 신규 고객 +95, 기존 고객 확장 +55, 해외 +25의 합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86161" y="6473952"/>
            <a:ext cx="756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85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4515993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8000"/>
              </a:lnSpc>
              <a:buNone/>
            </a:pPr>
            <a:r>
              <a:rPr lang="en-US" sz="34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진료 기록 AI를</a:t>
            </a:r>
            <a:endParaRPr lang="en-US" sz="3400" dirty="0"/>
          </a:p>
          <a:p>
            <a:pPr eaLnBrk="0" indent="0" marL="0">
              <a:lnSpc>
                <a:spcPct val="108000"/>
              </a:lnSpc>
              <a:buNone/>
            </a:pPr>
            <a:r>
              <a:rPr lang="en-US" sz="34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병원 전체로 넓혀</a:t>
            </a:r>
            <a:endParaRPr lang="en-US" sz="3400" dirty="0"/>
          </a:p>
          <a:p>
            <a:pPr eaLnBrk="0" indent="0" marL="0">
              <a:lnSpc>
                <a:spcPct val="108000"/>
              </a:lnSpc>
              <a:buNone/>
            </a:pPr>
            <a:r>
              <a:rPr lang="en-US" sz="34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2027년 ARR</a:t>
            </a:r>
            <a:endParaRPr lang="en-US" sz="3400" dirty="0"/>
          </a:p>
          <a:p>
            <a:pPr eaLnBrk="0" indent="0" marL="0">
              <a:lnSpc>
                <a:spcPct val="108000"/>
              </a:lnSpc>
              <a:buNone/>
            </a:pPr>
            <a:r>
              <a:rPr lang="en-US" sz="34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260억원을 만듭니다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48640" y="5440680"/>
            <a:ext cx="457200" cy="54864"/>
          </a:xfrm>
          <a:prstGeom prst="rect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623560"/>
            <a:ext cx="45159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진료 기록을 대신 쓰는 병원용 의료 AI 구독 서비스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7288" y="1188720"/>
            <a:ext cx="5455768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3167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00" b="1" spc="100" kern="0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pPr eaLnBrk="0" indent="0" marL="0">
              <a:buNone/>
            </a:pPr>
            <a:r>
              <a:rPr lang="en-US" sz="900" b="1" spc="1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성장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87288" y="15727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indent="0" marL="0">
              <a:buNone/>
            </a:pPr>
            <a:r>
              <a:rPr lang="en-US" sz="4400" dirty="0">
                <a:solidFill>
                  <a:srgbClr val="0E8C7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3.1</a:t>
            </a:r>
            <a:pPr eaLnBrk="0" indent="0" marL="0">
              <a:buNone/>
            </a:pPr>
            <a:r>
              <a:rPr lang="en-US" sz="160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44688" y="1627632"/>
            <a:ext cx="339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2년 만에 ARR이 세 배가 됩니다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44688" y="1993392"/>
            <a:ext cx="339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'25 85억원에서 '27P 260억원으로 늘어나고,</a:t>
            </a:r>
            <a:endParaRPr lang="en-US" sz="100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증가분 175억원 중 55억원은 기존 고객 확장입니다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7288" y="2849880"/>
            <a:ext cx="5455768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7288" y="2977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00" b="1" spc="100" kern="0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eaLnBrk="0" indent="0" marL="0">
              <a:buNone/>
            </a:pPr>
            <a:r>
              <a:rPr lang="en-US" sz="900" b="1" spc="1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고객 확장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87288" y="323392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indent="0" marL="0">
              <a:buNone/>
            </a:pPr>
            <a:r>
              <a:rPr lang="en-US" sz="44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128</a:t>
            </a:r>
            <a:pPr eaLnBrk="0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244688" y="3288792"/>
            <a:ext cx="339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고객 매출이 해마다 28% 늘어납니다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44688" y="3654552"/>
            <a:ext cx="339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진료과를 넓혀 쓸수록 계약 금액이 커지는 구조</a:t>
            </a:r>
            <a:endParaRPr lang="en-US" sz="100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3년 뒤 고객 매출은 약 2.1배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87288" y="4511040"/>
            <a:ext cx="5455768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7288" y="46390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00" b="1" spc="100" kern="0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pPr eaLnBrk="0" indent="0" marL="0">
              <a:buNone/>
            </a:pPr>
            <a:r>
              <a:rPr lang="en-US" sz="900" b="1" spc="1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효율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87288" y="489508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indent="0" marL="0">
              <a:buNone/>
            </a:pPr>
            <a:r>
              <a:rPr lang="en-US" sz="44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11</a:t>
            </a:r>
            <a:pPr eaLnBrk="0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개월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8244688" y="4949952"/>
            <a:ext cx="339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확보 비용을 11개월 만에 회수합니다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44688" y="5315712"/>
            <a:ext cx="339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생애 가치는 확보 비용의 약 5.5배</a:t>
            </a:r>
            <a:endParaRPr lang="en-US" sz="100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이탈률은 연 3%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ho/Documents/report-kit/plugins/deck-kit/skills/deck/examples/images/glow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-822960"/>
            <a:ext cx="7680960" cy="7680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500" b="1" spc="200" kern="0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 ARR 계획</a:t>
            </a:r>
            <a:endParaRPr lang="en-US" sz="1500" dirty="0"/>
          </a:p>
        </p:txBody>
      </p:sp>
      <p:sp>
        <p:nvSpPr>
          <p:cNvPr id="4" name="!!n260"/>
          <p:cNvSpPr/>
          <p:nvPr/>
        </p:nvSpPr>
        <p:spPr>
          <a:xfrm>
            <a:off x="685800" y="1783080"/>
            <a:ext cx="10058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20000" spc="-40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260</a:t>
            </a:r>
            <a:endParaRPr lang="en-US" sz="20000" dirty="0"/>
          </a:p>
        </p:txBody>
      </p:sp>
      <p:sp>
        <p:nvSpPr>
          <p:cNvPr id="5" name="Text 2"/>
          <p:cNvSpPr/>
          <p:nvPr/>
        </p:nvSpPr>
        <p:spPr>
          <a:xfrm>
            <a:off x="5486400" y="3520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억원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000" dirty="0">
                <a:solidFill>
                  <a:srgbClr val="A9A6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2025년의 약 3.1배. 기존 고객의 확장이 성장을 받칩니다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'27P는 사업계획 기준(가상)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5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50" b="1" spc="150" kern="0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pPr eaLnBrk="0" indent="0" marL="0">
              <a:buNone/>
            </a:pPr>
            <a:r>
              <a:rPr lang="en-US" sz="950" b="1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GROWTH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066837" y="384048"/>
            <a:ext cx="35762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95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MediNote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94415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9611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5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2027년까지 늘어날 ARR 175억원 중 절반 이상을 신규 고객이 만듭니다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'25 85억원에서 '26E 150억원, '27P 260억원으로. 영업이익은 '26년에 흑자로 돌아섭니다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D9D6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55664"/>
            <a:ext cx="101546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'23~'25 실적, '26E 전망, '27P 사업계획(가상). 영업이익 단위 억원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6161" y="6473952"/>
            <a:ext cx="756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85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545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ARR 추이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44752" y="1993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억원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0517" y="5025331"/>
            <a:ext cx="567400" cy="186749"/>
          </a:xfrm>
          <a:prstGeom prst="rect">
            <a:avLst/>
          </a:prstGeom>
          <a:solidFill>
            <a:srgbClr val="CFCBC4"/>
          </a:solidFill>
          <a:ln w="12700">
            <a:solidFill>
              <a:srgbClr val="CFCB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197" y="4769299"/>
            <a:ext cx="111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6197" y="5285232"/>
            <a:ext cx="111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01670" y="4776333"/>
            <a:ext cx="567400" cy="435747"/>
          </a:xfrm>
          <a:prstGeom prst="rect">
            <a:avLst/>
          </a:prstGeom>
          <a:solidFill>
            <a:srgbClr val="CFCBC4"/>
          </a:solidFill>
          <a:ln w="12700">
            <a:solidFill>
              <a:srgbClr val="CFCB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27350" y="4520301"/>
            <a:ext cx="111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350" y="5285232"/>
            <a:ext cx="111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92824" y="4330212"/>
            <a:ext cx="567400" cy="88186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18504" y="3982740"/>
            <a:ext cx="111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18504" y="5285232"/>
            <a:ext cx="111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83977" y="3655842"/>
            <a:ext cx="567400" cy="1556238"/>
          </a:xfrm>
          <a:prstGeom prst="rect">
            <a:avLst/>
          </a:prstGeom>
          <a:solidFill>
            <a:srgbClr val="DDF1EE"/>
          </a:solidFill>
          <a:ln w="12700">
            <a:solidFill>
              <a:srgbClr val="0E8C7F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809657" y="3308370"/>
            <a:ext cx="111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en-US" sz="130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09657" y="5285232"/>
            <a:ext cx="111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'26E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75131" y="2514600"/>
            <a:ext cx="567400" cy="2697480"/>
          </a:xfrm>
          <a:prstGeom prst="rect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sp>
        <p:nvSpPr>
          <p:cNvPr id="25" name="!!n260"/>
          <p:cNvSpPr/>
          <p:nvPr/>
        </p:nvSpPr>
        <p:spPr>
          <a:xfrm>
            <a:off x="4900811" y="2167128"/>
            <a:ext cx="111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en-US" sz="170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260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900811" y="5285232"/>
            <a:ext cx="111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'27P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5212080"/>
            <a:ext cx="5455768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623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영업이익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30947" y="5596128"/>
            <a:ext cx="10911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−12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22101" y="5596128"/>
            <a:ext cx="10911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105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13254" y="5596128"/>
            <a:ext cx="10911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105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925312"/>
            <a:ext cx="5455768" cy="0"/>
          </a:xfrm>
          <a:prstGeom prst="line">
            <a:avLst/>
          </a:prstGeom>
          <a:noFill/>
          <a:ln w="9525">
            <a:solidFill>
              <a:srgbClr val="D9D6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27062" y="1965960"/>
            <a:ext cx="4515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'25에서 '27P까지 늘어나는 ARR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806254" y="1993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억원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16734" y="4330212"/>
            <a:ext cx="523855" cy="88186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40589" y="4330212"/>
            <a:ext cx="379343" cy="0"/>
          </a:xfrm>
          <a:prstGeom prst="line">
            <a:avLst/>
          </a:prstGeom>
          <a:noFill/>
          <a:ln w="6350">
            <a:solidFill>
              <a:srgbClr val="9E9B96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7042414" y="4019316"/>
            <a:ext cx="107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96694" y="5285232"/>
            <a:ext cx="11639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19933" y="3344594"/>
            <a:ext cx="523855" cy="985618"/>
          </a:xfrm>
          <a:prstGeom prst="rect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43788" y="3344594"/>
            <a:ext cx="379343" cy="0"/>
          </a:xfrm>
          <a:prstGeom prst="line">
            <a:avLst/>
          </a:prstGeom>
          <a:noFill/>
          <a:ln w="6350">
            <a:solidFill>
              <a:srgbClr val="9E9B96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7945613" y="3033698"/>
            <a:ext cx="107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en-US" sz="150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+95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899893" y="5285232"/>
            <a:ext cx="11639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90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고객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23131" y="2773973"/>
            <a:ext cx="523855" cy="570621"/>
          </a:xfrm>
          <a:prstGeom prst="rect">
            <a:avLst/>
          </a:prstGeom>
          <a:solidFill>
            <a:srgbClr val="CFCBC4"/>
          </a:solidFill>
          <a:ln w="12700">
            <a:solidFill>
              <a:srgbClr val="CFCBC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646986" y="2773973"/>
            <a:ext cx="379343" cy="0"/>
          </a:xfrm>
          <a:prstGeom prst="line">
            <a:avLst/>
          </a:prstGeom>
          <a:noFill/>
          <a:ln w="6350">
            <a:solidFill>
              <a:srgbClr val="9E9B96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8848811" y="2463077"/>
            <a:ext cx="107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+55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803091" y="5285232"/>
            <a:ext cx="11639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고객 확장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026330" y="2514600"/>
            <a:ext cx="523855" cy="259373"/>
          </a:xfrm>
          <a:prstGeom prst="rect">
            <a:avLst/>
          </a:prstGeom>
          <a:solidFill>
            <a:srgbClr val="CFCBC4"/>
          </a:solidFill>
          <a:ln w="12700">
            <a:solidFill>
              <a:srgbClr val="CFCBC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550185" y="2514600"/>
            <a:ext cx="379343" cy="0"/>
          </a:xfrm>
          <a:prstGeom prst="line">
            <a:avLst/>
          </a:prstGeom>
          <a:noFill/>
          <a:ln w="6350">
            <a:solidFill>
              <a:srgbClr val="9E9B96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9752010" y="2203704"/>
            <a:ext cx="107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706290" y="5285232"/>
            <a:ext cx="11639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해외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0929528" y="2514600"/>
            <a:ext cx="523855" cy="2697480"/>
          </a:xfrm>
          <a:prstGeom prst="rect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655208" y="2203704"/>
            <a:ext cx="107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en-US" sz="150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260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0609488" y="5285232"/>
            <a:ext cx="11639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'27P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127062" y="5212080"/>
            <a:ext cx="4515993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27062" y="5715000"/>
            <a:ext cx="45159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고객 95 / 175억원, 증가분의 54%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5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50" b="1" spc="150" kern="0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pPr eaLnBrk="0" indent="0" marL="0">
              <a:buNone/>
            </a:pPr>
            <a:r>
              <a:rPr lang="en-US" sz="950" b="1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FINANCIAL HIGHLIGHTS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066837" y="384048"/>
            <a:ext cx="35762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95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MediNote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94415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9611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5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ARR은 연 75%씩 늘고, 2027년 영업이익률은 14.6%가 됩니다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 매출이라 다음 해 매출의 대부분이 연초에 이미 확보되어 있습니다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D9D6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55664"/>
            <a:ext cx="101546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연평균 성장률 = (260 / 85)^(1/2) − 1. 영업이익률 '27P 38/260. NRR은 1년 전 고객의 올해 매출 / 그 고객의 작년 매출(가상)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6161" y="6473952"/>
            <a:ext cx="756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85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2636444" cy="0"/>
          </a:xfrm>
          <a:prstGeom prst="line">
            <a:avLst/>
          </a:prstGeom>
          <a:noFill/>
          <a:ln w="25400">
            <a:solidFill>
              <a:srgbClr val="0E8C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57400"/>
            <a:ext cx="2636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indent="0" marL="0">
              <a:buNone/>
            </a:pPr>
            <a:r>
              <a:rPr lang="en-US" sz="4000" dirty="0">
                <a:solidFill>
                  <a:srgbClr val="0E8C7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75</a:t>
            </a:r>
            <a:pPr eaLnBrk="0" indent="0" marL="0">
              <a:buNone/>
            </a:pPr>
            <a:r>
              <a:rPr lang="en-US" sz="160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26364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ARR 연평균 성장률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44952"/>
            <a:ext cx="26364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'25 85억원에서 '27P 260억원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67964" y="1965960"/>
            <a:ext cx="2636444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7964" y="2057400"/>
            <a:ext cx="2636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indent="0" marL="0">
              <a:buNone/>
            </a:pPr>
            <a:r>
              <a:rPr lang="en-US" sz="40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128</a:t>
            </a:r>
            <a:pPr eaLnBrk="0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367964" y="2788920"/>
            <a:ext cx="26364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고객 매출 유지율(NRR)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7964" y="3044952"/>
            <a:ext cx="26364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진료과 확대로 계약 금액 증가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87288" y="1965960"/>
            <a:ext cx="2636444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7288" y="2057400"/>
            <a:ext cx="2636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indent="0" marL="0">
              <a:buNone/>
            </a:pPr>
            <a:r>
              <a:rPr lang="en-US" sz="40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14.6</a:t>
            </a:r>
            <a:pPr eaLnBrk="0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187288" y="2788920"/>
            <a:ext cx="26364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'27P 영업이익률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87288" y="3044952"/>
            <a:ext cx="26364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'25 −14%에서 흑자 전환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006611" y="1965960"/>
            <a:ext cx="2636444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06611" y="2057400"/>
            <a:ext cx="2636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indent="0" marL="0">
              <a:buNone/>
            </a:pPr>
            <a:r>
              <a:rPr lang="en-US" sz="40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3</a:t>
            </a:r>
            <a:pPr eaLnBrk="0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%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9006611" y="2788920"/>
            <a:ext cx="26364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고객 이탈률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06611" y="3044952"/>
            <a:ext cx="26364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후 해지가 드문 구조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'27P 고객군별 ARR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76856" y="3776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억원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4114800"/>
            <a:ext cx="7335317" cy="0"/>
          </a:xfrm>
          <a:prstGeom prst="line">
            <a:avLst/>
          </a:prstGeom>
          <a:noFill/>
          <a:ln w="9525">
            <a:solidFill>
              <a:srgbClr val="D9D6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407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의원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011680" y="4297680"/>
            <a:ext cx="3058478" cy="502920"/>
          </a:xfrm>
          <a:prstGeom prst="rect">
            <a:avLst/>
          </a:prstGeom>
          <a:solidFill>
            <a:srgbClr val="141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84832" y="4297680"/>
            <a:ext cx="2967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011680" y="4846320"/>
            <a:ext cx="3058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고객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70158" y="4297680"/>
            <a:ext cx="2184627" cy="502920"/>
          </a:xfrm>
          <a:prstGeom prst="rect">
            <a:avLst/>
          </a:prstGeom>
          <a:solidFill>
            <a:srgbClr val="0E8C7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43310" y="4297680"/>
            <a:ext cx="20931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70158" y="4846320"/>
            <a:ext cx="21846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고객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254784" y="4206240"/>
            <a:ext cx="0" cy="685800"/>
          </a:xfrm>
          <a:prstGeom prst="line">
            <a:avLst/>
          </a:prstGeom>
          <a:noFill/>
          <a:ln w="15875">
            <a:solidFill>
              <a:srgbClr val="141414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706144" y="4005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8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120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152437" y="43159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1800" dirty="0">
                <a:solidFill>
                  <a:srgbClr val="0E8C7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120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695237" y="46817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85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충족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8640" y="5303520"/>
            <a:ext cx="7335317" cy="0"/>
          </a:xfrm>
          <a:prstGeom prst="line">
            <a:avLst/>
          </a:prstGeom>
          <a:noFill/>
          <a:ln w="9525">
            <a:solidFill>
              <a:srgbClr val="D9D6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596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병원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011680" y="5486400"/>
            <a:ext cx="2621552" cy="502920"/>
          </a:xfrm>
          <a:prstGeom prst="rect">
            <a:avLst/>
          </a:prstGeom>
          <a:solidFill>
            <a:srgbClr val="141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84832" y="5486400"/>
            <a:ext cx="2530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011680" y="6035040"/>
            <a:ext cx="2621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고객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33232" y="5486400"/>
            <a:ext cx="2403089" cy="502920"/>
          </a:xfrm>
          <a:prstGeom prst="rect">
            <a:avLst/>
          </a:prstGeom>
          <a:solidFill>
            <a:srgbClr val="0E8C7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6384" y="5486400"/>
            <a:ext cx="23116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633232" y="6035040"/>
            <a:ext cx="24030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고객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036322" y="5394960"/>
            <a:ext cx="0" cy="685800"/>
          </a:xfrm>
          <a:prstGeom prst="line">
            <a:avLst/>
          </a:prstGeom>
          <a:noFill/>
          <a:ln w="15875">
            <a:solidFill>
              <a:srgbClr val="141414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6487682" y="51937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8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115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152437" y="55046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115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695237" y="58704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충족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006611" y="3749040"/>
            <a:ext cx="2636444" cy="2377440"/>
          </a:xfrm>
          <a:prstGeom prst="rect">
            <a:avLst/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06611" y="3749040"/>
            <a:ext cx="2636444" cy="45720"/>
          </a:xfrm>
          <a:prstGeom prst="rect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89491" y="3950208"/>
            <a:ext cx="22706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00" b="1" spc="100" kern="0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투자자가 볼 점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189491" y="4224528"/>
            <a:ext cx="22706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성장의 절반이</a:t>
            </a:r>
            <a:endParaRPr lang="en-US" sz="130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쓰는 고객에게서 나옵니다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189491" y="5349240"/>
            <a:ext cx="22706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진료과에서 시작해 병원 전체로</a:t>
            </a:r>
            <a:endParaRPr lang="en-US" sz="90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넓히는 동안 영업비가 거의 들지 않습니다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ho/Documents/report-kit/plugins/deck-kit/skills/deck/examples/images/hero_d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500" b="1" spc="200" kern="0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고객 매출 유지율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77240" y="196596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9500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도입 3년 뒤</a:t>
            </a:r>
            <a:endParaRPr lang="en-US" sz="7200" dirty="0"/>
          </a:p>
          <a:p>
            <a:pPr eaLnBrk="0" indent="0" marL="0">
              <a:lnSpc>
                <a:spcPct val="9500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매출 2.1배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22960" y="4526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128</a:t>
            </a:r>
            <a:pPr eaLnBrk="0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% NRR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5394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400" dirty="0">
                <a:solidFill>
                  <a:srgbClr val="C9C6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진료과를 넓혀 쓸수록 계약 금액이 커집니다. 128%를 3년 이어 가면 약 2.1배입니다</a:t>
            </a:r>
            <a:endParaRPr lang="en-US" sz="1400" dirty="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5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50" b="1" spc="150" kern="0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eaLnBrk="0" indent="0" marL="0">
              <a:buNone/>
            </a:pPr>
            <a:r>
              <a:rPr lang="en-US" sz="950" b="1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CUSTOMERS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066837" y="384048"/>
            <a:ext cx="35762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95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MediNote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94415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9611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5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의원 한 곳에서 시작해 대학병원 전 병동까지 넓혔습니다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의원에서 검증한 제품을 진료과가 많은 병원으로 넓혀 왔습니다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D9D6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55664"/>
            <a:ext cx="101546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이미지와 가상 사례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6161" y="6473952"/>
            <a:ext cx="756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85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00" b="1" spc="100" kern="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사례</a:t>
            </a:r>
            <a:endParaRPr lang="en-US" sz="900" dirty="0"/>
          </a:p>
        </p:txBody>
      </p:sp>
      <p:pic>
        <p:nvPicPr>
          <p:cNvPr id="11" name="Image 0" descr="/Users/junho/Documents/report-kit/plugins/deck-kit/skills/deck/examples/images/wide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76272"/>
            <a:ext cx="3576218" cy="19867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42545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0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417320" y="4236212"/>
            <a:ext cx="2707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의원 A  첫 유료 고객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417320" y="4510532"/>
            <a:ext cx="2707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내과 의원 1곳, 원장 2명</a:t>
            </a:r>
            <a:endParaRPr lang="en-US" sz="8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 시간 절반으로 단축</a:t>
            </a:r>
            <a:endParaRPr lang="en-US" sz="850" dirty="0"/>
          </a:p>
        </p:txBody>
      </p:sp>
      <p:pic>
        <p:nvPicPr>
          <p:cNvPr id="15" name="Image 1" descr="/Users/junho/Documents/report-kit/plugins/deck-kit/skills/deck/examples/images/wide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07738" y="2176272"/>
            <a:ext cx="3576218" cy="19867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07738" y="42545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0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176418" y="4236212"/>
            <a:ext cx="2707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병원 B  5개 진료과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176418" y="4510532"/>
            <a:ext cx="2707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내과로 시작해 6개월 만에</a:t>
            </a:r>
            <a:endParaRPr lang="en-US" sz="8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진료과로 확대</a:t>
            </a:r>
            <a:endParaRPr lang="en-US" sz="850" dirty="0"/>
          </a:p>
        </p:txBody>
      </p:sp>
      <p:pic>
        <p:nvPicPr>
          <p:cNvPr id="19" name="Image 2" descr="/Users/junho/Documents/report-kit/plugins/deck-kit/skills/deck/examples/images/wide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66837" y="2176272"/>
            <a:ext cx="3576218" cy="19867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66837" y="42545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0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935517" y="4236212"/>
            <a:ext cx="2707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대학병원 C  전 병동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935517" y="4510532"/>
            <a:ext cx="2707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외래와 입원 기록 전체 적용</a:t>
            </a:r>
            <a:endParaRPr lang="en-US" sz="8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의료진 1,200명 사용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48640" y="5168900"/>
            <a:ext cx="3576218" cy="0"/>
          </a:xfrm>
          <a:prstGeom prst="line">
            <a:avLst/>
          </a:prstGeom>
          <a:noFill/>
          <a:ln w="25400">
            <a:solidFill>
              <a:srgbClr val="0E8C7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5260340"/>
            <a:ext cx="3576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indent="0" marL="0">
              <a:buNone/>
            </a:pPr>
            <a:r>
              <a:rPr lang="en-US" sz="3000" dirty="0">
                <a:solidFill>
                  <a:srgbClr val="0E8C7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420</a:t>
            </a:r>
            <a:pPr eaLnBrk="0" indent="0" marL="0">
              <a:buNone/>
            </a:pPr>
            <a:r>
              <a:rPr lang="en-US" sz="160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곳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548640" y="5991860"/>
            <a:ext cx="35762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의료기관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48640" y="6247892"/>
            <a:ext cx="3576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'25말 기준(가상)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307738" y="5168900"/>
            <a:ext cx="3576218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307738" y="5260340"/>
            <a:ext cx="3576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indent="0" marL="0">
              <a:buNone/>
            </a:pPr>
            <a:r>
              <a:rPr lang="en-US" sz="30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180</a:t>
            </a:r>
            <a:pPr eaLnBrk="0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건</a:t>
            </a:r>
            <a:endParaRPr lang="en-US" sz="3000" dirty="0"/>
          </a:p>
        </p:txBody>
      </p:sp>
      <p:sp>
        <p:nvSpPr>
          <p:cNvPr id="29" name="Text 24"/>
          <p:cNvSpPr/>
          <p:nvPr/>
        </p:nvSpPr>
        <p:spPr>
          <a:xfrm>
            <a:off x="4307738" y="5991860"/>
            <a:ext cx="35762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기록 건수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307738" y="6247892"/>
            <a:ext cx="3576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외래와 입원 합계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8066837" y="5168900"/>
            <a:ext cx="3576218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066837" y="5260340"/>
            <a:ext cx="3576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indent="0" marL="0">
              <a:buNone/>
            </a:pPr>
            <a:r>
              <a:rPr lang="en-US" sz="30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40</a:t>
            </a:r>
            <a:pPr eaLnBrk="0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</a:t>
            </a:r>
            <a:endParaRPr lang="en-US" sz="3000" dirty="0"/>
          </a:p>
        </p:txBody>
      </p:sp>
      <p:sp>
        <p:nvSpPr>
          <p:cNvPr id="33" name="Text 28"/>
          <p:cNvSpPr/>
          <p:nvPr/>
        </p:nvSpPr>
        <p:spPr>
          <a:xfrm>
            <a:off x="8066837" y="5991860"/>
            <a:ext cx="35762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연동 전자의무기록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8066837" y="6247892"/>
            <a:ext cx="3576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주요 EMR 대부분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5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50" b="1" spc="150" kern="0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eaLnBrk="0" indent="0" marL="0">
              <a:buNone/>
            </a:pPr>
            <a:r>
              <a:rPr lang="en-US" sz="950" b="1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UNIT ECONOMICS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066837" y="384048"/>
            <a:ext cx="35762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95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MediNote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94415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9611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5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한 곳을 얻는 데 쓴 비용은 11개월이면 돌아옵니다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1곳 연 2,400만원, 매출총이익률 82%. 확보 비용 1,800만원을 월 164만원씩 회수합니다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D9D6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55664"/>
            <a:ext cx="101546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1곳 평균(가상). 월 매출총이익 = 2,400만원 × 82% ÷ 12. 고객 생애 가치(5년) = 2,400만원 × 82% × 5 = 9,840만원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6161" y="6473952"/>
            <a:ext cx="756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85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1곳 연 매출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20240" y="1993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만원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2917850"/>
            <a:ext cx="960120" cy="1837030"/>
          </a:xfrm>
          <a:prstGeom prst="rect">
            <a:avLst/>
          </a:prstGeom>
          <a:solidFill>
            <a:srgbClr val="0E8C7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17850"/>
            <a:ext cx="960120" cy="1837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1,968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18488" y="3726637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매출총이익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960120" cy="403250"/>
          </a:xfrm>
          <a:prstGeom prst="rect">
            <a:avLst/>
          </a:prstGeom>
          <a:solidFill>
            <a:srgbClr val="CFCB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14600"/>
            <a:ext cx="96012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18488" y="2606497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2636444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846320"/>
            <a:ext cx="2636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indent="0" marL="0">
              <a:buNone/>
            </a:pPr>
            <a:r>
              <a:rPr lang="en-US" sz="2000" dirty="0">
                <a:solidFill>
                  <a:srgbClr val="0E8C7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82</a:t>
            </a:r>
            <a:pPr eaLnBrk="0" indent="0" marL="0">
              <a:buNone/>
            </a:pPr>
            <a:r>
              <a:rPr lang="en-US" sz="95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% 매출총이익률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490618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매출총이익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24474" y="1993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만원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490618" y="4630420"/>
            <a:ext cx="345542" cy="124460"/>
          </a:xfrm>
          <a:prstGeom prst="rect">
            <a:avLst/>
          </a:prstGeom>
          <a:solidFill>
            <a:srgbClr val="DDF1EE"/>
          </a:solidFill>
          <a:ln w="9525">
            <a:solidFill>
              <a:srgbClr val="A8D8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1024" y="4505960"/>
            <a:ext cx="345542" cy="248920"/>
          </a:xfrm>
          <a:prstGeom prst="rect">
            <a:avLst/>
          </a:prstGeom>
          <a:solidFill>
            <a:srgbClr val="DDF1EE"/>
          </a:solidFill>
          <a:ln w="9525">
            <a:solidFill>
              <a:srgbClr val="A8D8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91430" y="4381500"/>
            <a:ext cx="345542" cy="373380"/>
          </a:xfrm>
          <a:prstGeom prst="rect">
            <a:avLst/>
          </a:prstGeom>
          <a:solidFill>
            <a:srgbClr val="DDF1EE"/>
          </a:solidFill>
          <a:ln w="9525">
            <a:solidFill>
              <a:srgbClr val="A8D8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8550" y="4828032"/>
            <a:ext cx="71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7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691835" y="4257040"/>
            <a:ext cx="345542" cy="497840"/>
          </a:xfrm>
          <a:prstGeom prst="rect">
            <a:avLst/>
          </a:prstGeom>
          <a:solidFill>
            <a:srgbClr val="DDF1EE"/>
          </a:solidFill>
          <a:ln w="9525">
            <a:solidFill>
              <a:srgbClr val="A8D8D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92241" y="4132580"/>
            <a:ext cx="345542" cy="622300"/>
          </a:xfrm>
          <a:prstGeom prst="rect">
            <a:avLst/>
          </a:prstGeom>
          <a:solidFill>
            <a:srgbClr val="DDF1EE"/>
          </a:solidFill>
          <a:ln w="9525">
            <a:solidFill>
              <a:srgbClr val="A8D8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646" y="4008120"/>
            <a:ext cx="345542" cy="746760"/>
          </a:xfrm>
          <a:prstGeom prst="rect">
            <a:avLst/>
          </a:prstGeom>
          <a:solidFill>
            <a:srgbClr val="DDF1EE"/>
          </a:solidFill>
          <a:ln w="9525">
            <a:solidFill>
              <a:srgbClr val="A8D8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766" y="4828032"/>
            <a:ext cx="71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7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6개월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893052" y="3883660"/>
            <a:ext cx="345542" cy="871220"/>
          </a:xfrm>
          <a:prstGeom prst="rect">
            <a:avLst/>
          </a:prstGeom>
          <a:solidFill>
            <a:srgbClr val="DDF1EE"/>
          </a:solidFill>
          <a:ln w="9525">
            <a:solidFill>
              <a:srgbClr val="A8D8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93458" y="3759200"/>
            <a:ext cx="345542" cy="995680"/>
          </a:xfrm>
          <a:prstGeom prst="rect">
            <a:avLst/>
          </a:prstGeom>
          <a:solidFill>
            <a:srgbClr val="DDF1EE"/>
          </a:solidFill>
          <a:ln w="9525">
            <a:solidFill>
              <a:srgbClr val="A8D8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93863" y="3634740"/>
            <a:ext cx="345542" cy="1120140"/>
          </a:xfrm>
          <a:prstGeom prst="rect">
            <a:avLst/>
          </a:prstGeom>
          <a:solidFill>
            <a:srgbClr val="DDF1EE"/>
          </a:solidFill>
          <a:ln w="9525">
            <a:solidFill>
              <a:srgbClr val="A8D8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10983" y="4828032"/>
            <a:ext cx="71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7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9개월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094269" y="3510280"/>
            <a:ext cx="345542" cy="1244600"/>
          </a:xfrm>
          <a:prstGeom prst="rect">
            <a:avLst/>
          </a:prstGeom>
          <a:solidFill>
            <a:srgbClr val="DDF1EE"/>
          </a:solidFill>
          <a:ln w="9525">
            <a:solidFill>
              <a:srgbClr val="A8D8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94674" y="3385820"/>
            <a:ext cx="345542" cy="1369060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11794" y="4828032"/>
            <a:ext cx="71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75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11개월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895080" y="3261360"/>
            <a:ext cx="345542" cy="1493520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12200" y="4828032"/>
            <a:ext cx="71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7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12개월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295486" y="3136900"/>
            <a:ext cx="345542" cy="1617980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95891" y="3012440"/>
            <a:ext cx="345542" cy="1742440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96297" y="2887980"/>
            <a:ext cx="345542" cy="1866900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13417" y="4828032"/>
            <a:ext cx="71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7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15개월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0496702" y="2763520"/>
            <a:ext cx="345542" cy="1991360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897108" y="2639060"/>
            <a:ext cx="345542" cy="2115820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297514" y="2514600"/>
            <a:ext cx="345542" cy="2240280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114634" y="4828032"/>
            <a:ext cx="71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en-US" sz="7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18개월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490618" y="3388856"/>
            <a:ext cx="7152437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4490618" y="31511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확보 비용 1,800만원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490618" y="2011680"/>
            <a:ext cx="71524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r" indent="0" marL="0">
              <a:buNone/>
            </a:pPr>
            <a:r>
              <a:rPr lang="en-US" sz="2800" dirty="0">
                <a:solidFill>
                  <a:srgbClr val="0E8C7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11</a:t>
            </a:r>
            <a:pPr eaLnBrk="0" algn="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개월에 회수,  고객 생애 가치는 확보 비용의 </a:t>
            </a:r>
            <a:pPr eaLnBrk="0" algn="r" indent="0" marL="0">
              <a:buNone/>
            </a:pPr>
            <a:r>
              <a:rPr lang="en-US" sz="2200" dirty="0">
                <a:solidFill>
                  <a:srgbClr val="0E8C7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5.5</a:t>
            </a:r>
            <a:pPr eaLnBrk="0" algn="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배</a:t>
            </a:r>
            <a:endParaRPr lang="en-US" sz="2800" dirty="0"/>
          </a:p>
        </p:txBody>
      </p:sp>
      <p:sp>
        <p:nvSpPr>
          <p:cNvPr id="50" name="Shape 48"/>
          <p:cNvSpPr/>
          <p:nvPr/>
        </p:nvSpPr>
        <p:spPr>
          <a:xfrm>
            <a:off x="4490618" y="4754880"/>
            <a:ext cx="7152437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5349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00" b="1" spc="100" kern="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확장이 쉬운 이유</a:t>
            </a:r>
            <a:endParaRPr lang="en-US" sz="900" dirty="0"/>
          </a:p>
        </p:txBody>
      </p:sp>
      <p:pic>
        <p:nvPicPr>
          <p:cNvPr id="52" name="Image 0" descr="/Users/junho/Documents/report-kit/plugins/deck-kit/skills/deck/assets/icons/inf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23560"/>
            <a:ext cx="384048" cy="384048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1051560" y="5605272"/>
            <a:ext cx="213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EMR 40종 연동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051560" y="5824728"/>
            <a:ext cx="21335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없이 기존 진료 화면에서</a:t>
            </a:r>
            <a:endParaRPr lang="en-US" sz="8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사용</a:t>
            </a:r>
            <a:endParaRPr lang="en-US" sz="850" dirty="0"/>
          </a:p>
        </p:txBody>
      </p:sp>
      <p:pic>
        <p:nvPicPr>
          <p:cNvPr id="55" name="Image 1" descr="/Users/junho/Documents/report-kit/plugins/deck-kit/skills/deck/assets/icons/capi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964" y="5623560"/>
            <a:ext cx="384048" cy="384048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3870884" y="5605272"/>
            <a:ext cx="213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진료과 단위 과금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3870884" y="5824728"/>
            <a:ext cx="21335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 진료과만큼만 내고</a:t>
            </a:r>
            <a:endParaRPr lang="en-US" sz="8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넓힐 때 자동 증액</a:t>
            </a:r>
            <a:endParaRPr lang="en-US" sz="850" dirty="0"/>
          </a:p>
        </p:txBody>
      </p:sp>
      <p:pic>
        <p:nvPicPr>
          <p:cNvPr id="58" name="Image 2" descr="/Users/junho/Documents/report-kit/plugins/deck-kit/skills/deck/assets/icons/ven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8" y="5623560"/>
            <a:ext cx="384048" cy="384048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6690208" y="5605272"/>
            <a:ext cx="213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병원 단위 계약</a:t>
            </a:r>
            <a:endParaRPr lang="en-US" sz="1000" dirty="0"/>
          </a:p>
        </p:txBody>
      </p:sp>
      <p:sp>
        <p:nvSpPr>
          <p:cNvPr id="60" name="Text 55"/>
          <p:cNvSpPr/>
          <p:nvPr/>
        </p:nvSpPr>
        <p:spPr>
          <a:xfrm>
            <a:off x="6690208" y="5824728"/>
            <a:ext cx="21335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진료과 성과로</a:t>
            </a:r>
            <a:endParaRPr lang="en-US" sz="8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병원 전체 계약 전환</a:t>
            </a:r>
            <a:endParaRPr lang="en-US" sz="850" dirty="0"/>
          </a:p>
        </p:txBody>
      </p:sp>
      <p:pic>
        <p:nvPicPr>
          <p:cNvPr id="61" name="Image 3" descr="/Users/junho/Documents/report-kit/plugins/deck-kit/skills/deck/assets/icons/ref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611" y="5623560"/>
            <a:ext cx="384048" cy="384048"/>
          </a:xfrm>
          <a:prstGeom prst="rect">
            <a:avLst/>
          </a:prstGeom>
        </p:spPr>
      </p:pic>
      <p:sp>
        <p:nvSpPr>
          <p:cNvPr id="62" name="Text 56"/>
          <p:cNvSpPr/>
          <p:nvPr/>
        </p:nvSpPr>
        <p:spPr>
          <a:xfrm>
            <a:off x="9509531" y="5605272"/>
            <a:ext cx="213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의료진 추천</a:t>
            </a:r>
            <a:endParaRPr lang="en-US" sz="1000" dirty="0"/>
          </a:p>
        </p:txBody>
      </p:sp>
      <p:sp>
        <p:nvSpPr>
          <p:cNvPr id="63" name="Text 57"/>
          <p:cNvSpPr/>
          <p:nvPr/>
        </p:nvSpPr>
        <p:spPr>
          <a:xfrm>
            <a:off x="9509531" y="5824728"/>
            <a:ext cx="21335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고객의 41%가</a:t>
            </a:r>
            <a:endParaRPr lang="en-US" sz="8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고객 소개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ho/Documents/report-kit/plugins/deck-kit/skills/deck/examples/images/glow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286000" y="914400"/>
            <a:ext cx="7315200" cy="7315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500" b="1" spc="200" kern="0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병원 인터뷰(가상)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77240" y="219456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0000"/>
              </a:lnSpc>
              <a:buNone/>
            </a:pPr>
            <a:r>
              <a:rPr lang="en-US" sz="58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기록하던 시간에</a:t>
            </a:r>
            <a:endParaRPr lang="en-US" sz="5800" dirty="0"/>
          </a:p>
          <a:p>
            <a:pPr eaLnBrk="0" indent="0" marL="0">
              <a:lnSpc>
                <a:spcPct val="100000"/>
              </a:lnSpc>
              <a:buNone/>
            </a:pPr>
            <a:r>
              <a:rPr lang="en-US" sz="58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환자를 한 명 더 봅니다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822960" y="4526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9A6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진료 1건당 기록 시간이 6분에서 3분으로 줄었습니다.</a:t>
            </a:r>
            <a:endParaRPr lang="en-US" sz="1700" dirty="0"/>
          </a:p>
          <a:p>
            <a:pPr eaLnBrk="0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9A6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40명을 보는 의원이면 2시간이 남습니다</a:t>
            </a:r>
            <a:endParaRPr lang="en-US" sz="1700" dirty="0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5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50" b="1" spc="150" kern="0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pPr eaLnBrk="0" indent="0" marL="0">
              <a:buNone/>
            </a:pPr>
            <a:r>
              <a:rPr lang="en-US" sz="950" b="1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SALES PIPELINE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066837" y="384048"/>
            <a:ext cx="35762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95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MediNote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94415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9611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5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대형 병원 9곳 중 1곳은 전면 도입, 8곳은 도입과 계약이 진행 중입니다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단계별 대형 병원 영업 현황. 한 진료과로 시작해 병원 전체로 넓히는 방식입니다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D9D6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55664"/>
            <a:ext cx="101546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가상의 고객과 계약 단계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6161" y="6473952"/>
            <a:ext cx="756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85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084832"/>
            <a:ext cx="164592" cy="164592"/>
          </a:xfrm>
          <a:prstGeom prst="ellipse">
            <a:avLst/>
          </a:prstGeom>
          <a:solidFill>
            <a:srgbClr val="141414"/>
          </a:solidFill>
          <a:ln w="15875">
            <a:solidFill>
              <a:srgbClr val="1414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039112"/>
            <a:ext cx="2362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전면 도입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2636444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pic>
        <p:nvPicPr>
          <p:cNvPr id="13" name="Image 0" descr="/Users/junho/Documents/report-kit/plugins/deck-kit/skills/deck/examples/images/sq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642616"/>
            <a:ext cx="868680" cy="8686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36192" y="2642616"/>
            <a:ext cx="1648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대학병원 C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536192" y="2898648"/>
            <a:ext cx="1648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0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서울, 1,800병상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536192" y="3118104"/>
            <a:ext cx="1648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외래와 입원 전체</a:t>
            </a:r>
            <a:endParaRPr lang="en-US" sz="8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ARR 9억원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367964" y="2084832"/>
            <a:ext cx="164592" cy="164592"/>
          </a:xfrm>
          <a:prstGeom prst="ellipse">
            <a:avLst/>
          </a:prstGeom>
          <a:solidFill>
            <a:srgbClr val="0E8C7F"/>
          </a:solidFill>
          <a:ln w="15875">
            <a:solidFill>
              <a:srgbClr val="0E8C7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23996" y="2039112"/>
            <a:ext cx="2362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중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367964" y="2514600"/>
            <a:ext cx="2636444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pic>
        <p:nvPicPr>
          <p:cNvPr id="20" name="Image 1" descr="/Users/junho/Documents/report-kit/plugins/deck-kit/skills/deck/examples/images/sq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67964" y="2642616"/>
            <a:ext cx="868680" cy="8686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55516" y="2642616"/>
            <a:ext cx="1648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종합병원 D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355516" y="2898648"/>
            <a:ext cx="1648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0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경기, 700병상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355516" y="3118104"/>
            <a:ext cx="1648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진료과 운영</a:t>
            </a:r>
            <a:endParaRPr lang="en-US" sz="8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확대 협의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367964" y="3776472"/>
            <a:ext cx="2636444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pic>
        <p:nvPicPr>
          <p:cNvPr id="25" name="Image 2" descr="/Users/junho/Documents/report-kit/plugins/deck-kit/skills/deck/examples/images/sq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67964" y="3904488"/>
            <a:ext cx="868680" cy="8686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355516" y="3904488"/>
            <a:ext cx="1648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종합병원 E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4355516" y="4160520"/>
            <a:ext cx="1648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0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부산, 600병상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355516" y="4379976"/>
            <a:ext cx="1648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응급의학과 시범</a:t>
            </a:r>
            <a:endParaRPr lang="en-US" sz="8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2분기 확대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3367964" y="5038344"/>
            <a:ext cx="2636444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pic>
        <p:nvPicPr>
          <p:cNvPr id="30" name="Image 3" descr="/Users/junho/Documents/report-kit/plugins/deck-kit/skills/deck/examples/images/sq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367964" y="5166360"/>
            <a:ext cx="868680" cy="8686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55516" y="5166360"/>
            <a:ext cx="1648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병원 그룹 F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355516" y="5422392"/>
            <a:ext cx="1648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0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8개 병원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4355516" y="5641848"/>
            <a:ext cx="1648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1개 병원 운영</a:t>
            </a:r>
            <a:endParaRPr lang="en-US" sz="8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 계약 검토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6187288" y="2084832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8C7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443320" y="2039112"/>
            <a:ext cx="2362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협상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187288" y="2514600"/>
            <a:ext cx="2636444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pic>
        <p:nvPicPr>
          <p:cNvPr id="37" name="Image 4" descr="/Users/junho/Documents/report-kit/plugins/deck-kit/skills/deck/examples/images/sq_5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187288" y="2642616"/>
            <a:ext cx="868680" cy="86868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174840" y="2642616"/>
            <a:ext cx="1648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대학병원 G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7174840" y="2898648"/>
            <a:ext cx="1648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0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대구, 1,100병상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7174840" y="3118104"/>
            <a:ext cx="1648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병동 계약</a:t>
            </a:r>
            <a:endParaRPr lang="en-US" sz="8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협상 단계</a:t>
            </a:r>
            <a:endParaRPr lang="en-US" sz="850" dirty="0"/>
          </a:p>
        </p:txBody>
      </p:sp>
      <p:sp>
        <p:nvSpPr>
          <p:cNvPr id="41" name="Shape 34"/>
          <p:cNvSpPr/>
          <p:nvPr/>
        </p:nvSpPr>
        <p:spPr>
          <a:xfrm>
            <a:off x="6187288" y="3776472"/>
            <a:ext cx="2636444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pic>
        <p:nvPicPr>
          <p:cNvPr id="42" name="Image 5" descr="/Users/junho/Documents/report-kit/plugins/deck-kit/skills/deck/examples/images/sq_6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87288" y="3904488"/>
            <a:ext cx="868680" cy="8686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174840" y="3904488"/>
            <a:ext cx="1648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해외 병원 H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7174840" y="4160520"/>
            <a:ext cx="1648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0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일본, 400병상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7174840" y="4379976"/>
            <a:ext cx="1648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일본어 모델 검증</a:t>
            </a:r>
            <a:endParaRPr lang="en-US" sz="8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하반기 계약 목표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9006611" y="2084832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FCBC4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9262643" y="2039112"/>
            <a:ext cx="2362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중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9006611" y="2514600"/>
            <a:ext cx="2636444" cy="0"/>
          </a:xfrm>
          <a:prstGeom prst="line">
            <a:avLst/>
          </a:prstGeom>
          <a:noFill/>
          <a:ln w="12700">
            <a:solidFill>
              <a:srgbClr val="CFCBC4"/>
            </a:solidFill>
            <a:prstDash val="solid"/>
          </a:ln>
        </p:spPr>
      </p:sp>
      <p:pic>
        <p:nvPicPr>
          <p:cNvPr id="49" name="Image 6" descr="/Users/junho/Documents/report-kit/plugins/deck-kit/skills/deck/examples/images/sq_7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006611" y="2642616"/>
            <a:ext cx="868680" cy="86868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9994163" y="2642616"/>
            <a:ext cx="1648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대학병원 I</a:t>
            </a:r>
            <a:endParaRPr lang="en-US" sz="1050" dirty="0"/>
          </a:p>
        </p:txBody>
      </p:sp>
      <p:sp>
        <p:nvSpPr>
          <p:cNvPr id="51" name="Text 42"/>
          <p:cNvSpPr/>
          <p:nvPr/>
        </p:nvSpPr>
        <p:spPr>
          <a:xfrm>
            <a:off x="9994163" y="2898648"/>
            <a:ext cx="1648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0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</a:t>
            </a:r>
            <a:endParaRPr lang="en-US" sz="800" dirty="0"/>
          </a:p>
        </p:txBody>
      </p:sp>
      <p:sp>
        <p:nvSpPr>
          <p:cNvPr id="52" name="Text 43"/>
          <p:cNvSpPr/>
          <p:nvPr/>
        </p:nvSpPr>
        <p:spPr>
          <a:xfrm>
            <a:off x="9994163" y="3118104"/>
            <a:ext cx="1648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심사 중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9006611" y="3776472"/>
            <a:ext cx="2636444" cy="0"/>
          </a:xfrm>
          <a:prstGeom prst="line">
            <a:avLst/>
          </a:prstGeom>
          <a:noFill/>
          <a:ln w="12700">
            <a:solidFill>
              <a:srgbClr val="CFCBC4"/>
            </a:solidFill>
            <a:prstDash val="solid"/>
          </a:ln>
        </p:spPr>
      </p:sp>
      <p:pic>
        <p:nvPicPr>
          <p:cNvPr id="54" name="Image 7" descr="/Users/junho/Documents/report-kit/plugins/deck-kit/skills/deck/examples/images/sq_8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006611" y="3904488"/>
            <a:ext cx="868680" cy="868680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9994163" y="3904488"/>
            <a:ext cx="1648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종합병원 J</a:t>
            </a:r>
            <a:endParaRPr lang="en-US" sz="1050" dirty="0"/>
          </a:p>
        </p:txBody>
      </p:sp>
      <p:sp>
        <p:nvSpPr>
          <p:cNvPr id="56" name="Text 46"/>
          <p:cNvSpPr/>
          <p:nvPr/>
        </p:nvSpPr>
        <p:spPr>
          <a:xfrm>
            <a:off x="9994163" y="4160520"/>
            <a:ext cx="1648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0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광주</a:t>
            </a:r>
            <a:endParaRPr lang="en-US" sz="800" dirty="0"/>
          </a:p>
        </p:txBody>
      </p:sp>
      <p:sp>
        <p:nvSpPr>
          <p:cNvPr id="57" name="Text 47"/>
          <p:cNvSpPr/>
          <p:nvPr/>
        </p:nvSpPr>
        <p:spPr>
          <a:xfrm>
            <a:off x="9994163" y="4379976"/>
            <a:ext cx="1648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시범 계약 검토</a:t>
            </a:r>
            <a:endParaRPr lang="en-US" sz="850" dirty="0"/>
          </a:p>
        </p:txBody>
      </p:sp>
      <p:sp>
        <p:nvSpPr>
          <p:cNvPr id="58" name="Shape 48"/>
          <p:cNvSpPr/>
          <p:nvPr/>
        </p:nvSpPr>
        <p:spPr>
          <a:xfrm>
            <a:off x="9006611" y="5038344"/>
            <a:ext cx="2636444" cy="0"/>
          </a:xfrm>
          <a:prstGeom prst="line">
            <a:avLst/>
          </a:prstGeom>
          <a:noFill/>
          <a:ln w="12700">
            <a:solidFill>
              <a:srgbClr val="CFCBC4"/>
            </a:solidFill>
            <a:prstDash val="solid"/>
          </a:ln>
        </p:spPr>
      </p:sp>
      <p:pic>
        <p:nvPicPr>
          <p:cNvPr id="59" name="Image 8" descr="/Users/junho/Documents/report-kit/plugins/deck-kit/skills/deck/examples/images/sq_9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006611" y="5166360"/>
            <a:ext cx="868680" cy="868680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9994163" y="5166360"/>
            <a:ext cx="1648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해외 병원 K</a:t>
            </a:r>
            <a:endParaRPr lang="en-US" sz="1050" dirty="0"/>
          </a:p>
        </p:txBody>
      </p:sp>
      <p:sp>
        <p:nvSpPr>
          <p:cNvPr id="61" name="Text 50"/>
          <p:cNvSpPr/>
          <p:nvPr/>
        </p:nvSpPr>
        <p:spPr>
          <a:xfrm>
            <a:off x="9994163" y="5422392"/>
            <a:ext cx="1648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80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대만</a:t>
            </a:r>
            <a:endParaRPr lang="en-US" sz="800" dirty="0"/>
          </a:p>
        </p:txBody>
      </p:sp>
      <p:sp>
        <p:nvSpPr>
          <p:cNvPr id="62" name="Text 51"/>
          <p:cNvSpPr/>
          <p:nvPr/>
        </p:nvSpPr>
        <p:spPr>
          <a:xfrm>
            <a:off x="9994163" y="5641848"/>
            <a:ext cx="1648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현지 파트너 협의</a:t>
            </a:r>
            <a:endParaRPr lang="en-US" sz="850" dirty="0"/>
          </a:p>
        </p:txBody>
      </p:sp>
      <p:sp>
        <p:nvSpPr>
          <p:cNvPr id="63" name="Shape 52"/>
          <p:cNvSpPr/>
          <p:nvPr/>
        </p:nvSpPr>
        <p:spPr>
          <a:xfrm>
            <a:off x="548640" y="3776472"/>
            <a:ext cx="2636444" cy="2331720"/>
          </a:xfrm>
          <a:prstGeom prst="rect">
            <a:avLst/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64" name="Shape 53"/>
          <p:cNvSpPr/>
          <p:nvPr/>
        </p:nvSpPr>
        <p:spPr>
          <a:xfrm>
            <a:off x="548640" y="3776472"/>
            <a:ext cx="2636444" cy="45720"/>
          </a:xfrm>
          <a:prstGeom prst="rect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sp>
        <p:nvSpPr>
          <p:cNvPr id="65" name="Text 54"/>
          <p:cNvSpPr/>
          <p:nvPr/>
        </p:nvSpPr>
        <p:spPr>
          <a:xfrm>
            <a:off x="731520" y="4005072"/>
            <a:ext cx="22706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진료과에서 시작해</a:t>
            </a:r>
            <a:endParaRPr lang="en-US" sz="130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병원 전체로 넓힙니다</a:t>
            </a:r>
            <a:endParaRPr lang="en-US" sz="1300" dirty="0"/>
          </a:p>
        </p:txBody>
      </p:sp>
      <p:sp>
        <p:nvSpPr>
          <p:cNvPr id="66" name="Text 55"/>
          <p:cNvSpPr/>
          <p:nvPr/>
        </p:nvSpPr>
        <p:spPr>
          <a:xfrm>
            <a:off x="731520" y="5330952"/>
            <a:ext cx="22706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대학병원 C는 내과 시범 후</a:t>
            </a:r>
            <a:endParaRPr lang="en-US" sz="90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14개월 만에 전 병동 계약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5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50" b="1" spc="150" kern="0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pPr eaLnBrk="0" indent="0" marL="0">
              <a:buNone/>
            </a:pPr>
            <a:r>
              <a:rPr lang="en-US" sz="950" b="1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VALUATION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066837" y="384048"/>
            <a:ext cx="35762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95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MediNote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94415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9611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5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Post-money 1,300억원은 '27P ARR의 5.0배입니다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'26E ARR 기준으로는 8.7배. 해외 의료 SaaS 비교 기업보다 낮은 배수에서 들어오는 구조입니다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D9D6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55664"/>
            <a:ext cx="101546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가상의 비교 기업 EV/ARR. 공모 희석과 할인 미반영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6161" y="6473952"/>
            <a:ext cx="756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85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EV/ARR 비교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4140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해외 비교 기업 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2377440"/>
            <a:ext cx="3739678" cy="310896"/>
          </a:xfrm>
          <a:prstGeom prst="rect">
            <a:avLst/>
          </a:prstGeom>
          <a:solidFill>
            <a:srgbClr val="CFCBC4"/>
          </a:solidFill>
          <a:ln w="12700">
            <a:solidFill>
              <a:srgbClr val="CFCB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8830" y="23957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14.0배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8712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해외 비교 기업 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2834640"/>
            <a:ext cx="2991743" cy="310896"/>
          </a:xfrm>
          <a:prstGeom prst="rect">
            <a:avLst/>
          </a:prstGeom>
          <a:solidFill>
            <a:srgbClr val="CFCBC4"/>
          </a:solidFill>
          <a:ln w="12700">
            <a:solidFill>
              <a:srgbClr val="CFCB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0895" y="28529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11.2배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28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비교 기업 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3291840"/>
            <a:ext cx="2404079" cy="310896"/>
          </a:xfrm>
          <a:prstGeom prst="rect">
            <a:avLst/>
          </a:prstGeom>
          <a:solidFill>
            <a:srgbClr val="CFCBC4"/>
          </a:solidFill>
          <a:ln w="12700">
            <a:solidFill>
              <a:srgbClr val="CFCB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3231" y="33101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9.0배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7856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라운드('26E)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0" y="3749040"/>
            <a:ext cx="2323943" cy="310896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3095" y="3767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8.7배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2428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0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라운드('27P)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4206240"/>
            <a:ext cx="1335599" cy="310896"/>
          </a:xfrm>
          <a:prstGeom prst="rect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94751" y="4224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00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66837" y="1965960"/>
            <a:ext cx="3576218" cy="4160520"/>
          </a:xfrm>
          <a:prstGeom prst="rect">
            <a:avLst/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5437" y="2194560"/>
            <a:ext cx="17881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Post-money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95437" y="2432304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약 1,300억원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295437" y="2852928"/>
            <a:ext cx="3119018" cy="0"/>
          </a:xfrm>
          <a:prstGeom prst="line">
            <a:avLst/>
          </a:prstGeom>
          <a:noFill/>
          <a:ln w="9525">
            <a:solidFill>
              <a:srgbClr val="CFCB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95437" y="2944368"/>
            <a:ext cx="17881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'26E ARR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95437" y="3182112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150억원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295437" y="3602736"/>
            <a:ext cx="3119018" cy="0"/>
          </a:xfrm>
          <a:prstGeom prst="line">
            <a:avLst/>
          </a:prstGeom>
          <a:noFill/>
          <a:ln w="9525">
            <a:solidFill>
              <a:srgbClr val="CFCB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95437" y="3694176"/>
            <a:ext cx="17881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'27P ARR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295437" y="393192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260억원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295437" y="4352544"/>
            <a:ext cx="3119018" cy="0"/>
          </a:xfrm>
          <a:prstGeom prst="line">
            <a:avLst/>
          </a:prstGeom>
          <a:noFill/>
          <a:ln w="9525">
            <a:solidFill>
              <a:srgbClr val="CFCB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95437" y="4443984"/>
            <a:ext cx="17881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'26E 기준 배수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95437" y="4681728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약 8.7배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295437" y="5102352"/>
            <a:ext cx="3119018" cy="0"/>
          </a:xfrm>
          <a:prstGeom prst="line">
            <a:avLst/>
          </a:prstGeom>
          <a:noFill/>
          <a:ln w="9525">
            <a:solidFill>
              <a:srgbClr val="CFCB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95437" y="5193792"/>
            <a:ext cx="17881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'27P 기준 배수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295437" y="5431536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400" dirty="0">
                <a:solidFill>
                  <a:srgbClr val="0E8C7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약 5.0배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5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50" b="1" spc="150" kern="0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pPr eaLnBrk="0" indent="0" marL="0">
              <a:buNone/>
            </a:pPr>
            <a:r>
              <a:rPr lang="en-US" sz="950" b="1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USE OF PROCEEDS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066837" y="384048"/>
            <a:ext cx="35762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95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MediNote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94415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9611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5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신주 150억원의 40%를 대형 병원 영업에 씁니다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대형 병원 한 곳의 ARR은 의원 수십 곳과 같습니다. 영업 인력이 계약 수를 정합니다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D9D6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55664"/>
            <a:ext cx="101546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가상의 자금 사용 계획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6161" y="6473952"/>
            <a:ext cx="756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en-US" sz="850" b="1" dirty="0">
                <a:solidFill>
                  <a:srgbClr val="9E9B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4437766" cy="640080"/>
          </a:xfrm>
          <a:prstGeom prst="rect">
            <a:avLst/>
          </a:prstGeom>
          <a:solidFill>
            <a:srgbClr val="0E8C7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11680"/>
            <a:ext cx="42548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60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986406" y="2011680"/>
            <a:ext cx="3698138" cy="640080"/>
          </a:xfrm>
          <a:prstGeom prst="rect">
            <a:avLst/>
          </a:prstGeom>
          <a:solidFill>
            <a:srgbClr val="14141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3566" y="201168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50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684544" y="2011680"/>
            <a:ext cx="1849069" cy="640080"/>
          </a:xfrm>
          <a:prstGeom prst="rect">
            <a:avLst/>
          </a:prstGeom>
          <a:solidFill>
            <a:srgbClr val="6B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1704" y="2011680"/>
            <a:ext cx="16661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25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533614" y="2011680"/>
            <a:ext cx="1109442" cy="640080"/>
          </a:xfrm>
          <a:prstGeom prst="rect">
            <a:avLst/>
          </a:prstGeom>
          <a:solidFill>
            <a:srgbClr val="CFCB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70774" y="2011680"/>
            <a:ext cx="9265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22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017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금액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0" y="3017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20640" y="3017520"/>
            <a:ext cx="6522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310128"/>
            <a:ext cx="11094415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74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60억원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3474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대형 병원 영업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20640" y="3474720"/>
            <a:ext cx="6385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병원 전담 영업과 도입 지원 인력 확충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950208"/>
            <a:ext cx="11094415" cy="0"/>
          </a:xfrm>
          <a:prstGeom prst="line">
            <a:avLst/>
          </a:prstGeom>
          <a:noFill/>
          <a:ln w="9525">
            <a:solidFill>
              <a:srgbClr val="D9D6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0233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50억원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4023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개발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20640" y="4023360"/>
            <a:ext cx="6385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입원 기록, 수술 기록 모델 고도화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498848"/>
            <a:ext cx="11094415" cy="0"/>
          </a:xfrm>
          <a:prstGeom prst="line">
            <a:avLst/>
          </a:prstGeom>
          <a:noFill/>
          <a:ln w="9525">
            <a:solidFill>
              <a:srgbClr val="D9D6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5720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25억원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0" y="4572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해외 진출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20640" y="4572000"/>
            <a:ext cx="6385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일본, 대만 현지화와 파트너 구축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5047488"/>
            <a:ext cx="11094415" cy="0"/>
          </a:xfrm>
          <a:prstGeom prst="line">
            <a:avLst/>
          </a:prstGeom>
          <a:noFill/>
          <a:ln w="9525">
            <a:solidFill>
              <a:srgbClr val="D9D6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1206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E8C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15억원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011680" y="5120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보안과 인증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120640" y="5120640"/>
            <a:ext cx="6385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 데이터 보안 인증 갱신과 감사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5596128"/>
            <a:ext cx="11094415" cy="0"/>
          </a:xfrm>
          <a:prstGeom prst="line">
            <a:avLst/>
          </a:prstGeom>
          <a:noFill/>
          <a:ln w="9525">
            <a:solidFill>
              <a:srgbClr val="D9D6D1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ho/Documents/report-kit/plugins/deck-kit/skills/deck/examples/images/glow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-1280160"/>
            <a:ext cx="8229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01168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2000"/>
              </a:lnSpc>
              <a:buNone/>
            </a:pPr>
            <a:r>
              <a:rPr lang="en-US" sz="58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의사는 환자를 보고,</a:t>
            </a:r>
            <a:endParaRPr lang="en-US" sz="5800" dirty="0"/>
          </a:p>
          <a:p>
            <a:pPr eaLnBrk="0" indent="0" marL="0">
              <a:lnSpc>
                <a:spcPct val="102000"/>
              </a:lnSpc>
              <a:buNone/>
            </a:pPr>
            <a:r>
              <a:rPr lang="en-US" sz="58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기록은 MediNote가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200" dirty="0">
                <a:solidFill>
                  <a:srgbClr val="0E8C7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MediNote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2296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400" dirty="0">
                <a:solidFill>
                  <a:srgbClr val="A9A6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진료 기록을 대신 쓰는 병원용 의료 AI 구독 서비스</a:t>
            </a:r>
            <a:endParaRPr lang="en-US" sz="140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2026-10-07T12:50:50Z</dcterms:created>
  <dcterms:modified xsi:type="dcterms:W3CDTF">2026-10-07T12:50:50Z</dcterms:modified>
</cp:coreProperties>
</file>